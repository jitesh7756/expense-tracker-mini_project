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63" r:id="rId4"/>
    <p:sldId id="258" r:id="rId5"/>
    <p:sldId id="264" r:id="rId6"/>
    <p:sldId id="259" r:id="rId7"/>
    <p:sldId id="265" r:id="rId8"/>
    <p:sldId id="266" r:id="rId9"/>
    <p:sldId id="260" r:id="rId10"/>
    <p:sldId id="269" r:id="rId11"/>
    <p:sldId id="282" r:id="rId12"/>
    <p:sldId id="283" r:id="rId13"/>
    <p:sldId id="284" r:id="rId14"/>
    <p:sldId id="274" r:id="rId15"/>
    <p:sldId id="287" r:id="rId16"/>
    <p:sldId id="261" r:id="rId17"/>
    <p:sldId id="281" r:id="rId18"/>
    <p:sldId id="26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B6E1"/>
    <a:srgbClr val="2A428D"/>
    <a:srgbClr val="263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2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490" y="72"/>
      </p:cViewPr>
      <p:guideLst>
        <p:guide orient="horz" pos="2148"/>
        <p:guide pos="38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Click to edit Master text style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Click to edit Master text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D279-13C2-47B7-97FB-F8E7CCA9F990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E4C2D-8B68-445C-AE43-384C9DAECB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Click to edit Master text style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D279-13C2-47B7-97FB-F8E7CCA9F990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E4C2D-8B68-445C-AE43-384C9DAECB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D279-13C2-47B7-97FB-F8E7CCA9F990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E4C2D-8B68-445C-AE43-384C9DAECB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edit Master text style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0D279-13C2-47B7-97FB-F8E7CCA9F990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E4C2D-8B68-445C-AE43-384C9DAECB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1.png"/><Relationship Id="rId5" Type="http://schemas.openxmlformats.org/officeDocument/2006/relationships/tags" Target="../tags/tag9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9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Relationship Id="rId5" Type="http://schemas.openxmlformats.org/officeDocument/2006/relationships/image" Target="../media/image5.png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117" r="4587" b="4065"/>
          <a:stretch>
            <a:fillRect/>
          </a:stretch>
        </p:blipFill>
        <p:spPr>
          <a:xfrm rot="5400000">
            <a:off x="2515514" y="-2597625"/>
            <a:ext cx="7141531" cy="1223010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3508" y="2340949"/>
            <a:ext cx="1065085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altLang="en-US" sz="6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FINEXO </a:t>
            </a:r>
            <a:r>
              <a:rPr lang="en-US" sz="6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EXPENCE TRACKER</a:t>
            </a:r>
          </a:p>
        </p:txBody>
      </p:sp>
      <p:sp>
        <p:nvSpPr>
          <p:cNvPr id="7" name="矩形 8"/>
          <p:cNvSpPr>
            <a:spLocks noChangeArrowheads="1"/>
          </p:cNvSpPr>
          <p:nvPr/>
        </p:nvSpPr>
        <p:spPr bwMode="auto">
          <a:xfrm>
            <a:off x="2243495" y="3811015"/>
            <a:ext cx="7938770" cy="398780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000" dirty="0">
                <a:solidFill>
                  <a:srgbClr val="F0ED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Coding Languages : Python (Back-end) | HTML, CSS (Front-end) 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362200" y="3509699"/>
            <a:ext cx="7545957" cy="0"/>
          </a:xfrm>
          <a:prstGeom prst="line">
            <a:avLst/>
          </a:prstGeom>
          <a:ln>
            <a:solidFill>
              <a:srgbClr val="7BB6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445" y="1089660"/>
            <a:ext cx="1188720" cy="121158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236595" y="605155"/>
            <a:ext cx="5617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altLang="en-US"/>
              <a:t>B.R.Harne college of Engineering &amp; Technology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 animBg="1"/>
      <p:bldP spid="7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18213" r="4587" b="58075"/>
          <a:stretch>
            <a:fillRect/>
          </a:stretch>
        </p:blipFill>
        <p:spPr>
          <a:xfrm rot="5400000">
            <a:off x="-354860" y="1975811"/>
            <a:ext cx="6857999" cy="2906376"/>
          </a:xfrm>
          <a:custGeom>
            <a:avLst/>
            <a:gdLst>
              <a:gd name="connsiteX0" fmla="*/ 0 w 7141531"/>
              <a:gd name="connsiteY0" fmla="*/ 3026535 h 3026535"/>
              <a:gd name="connsiteX1" fmla="*/ 0 w 7141531"/>
              <a:gd name="connsiteY1" fmla="*/ 0 h 3026535"/>
              <a:gd name="connsiteX2" fmla="*/ 7141531 w 7141531"/>
              <a:gd name="connsiteY2" fmla="*/ 0 h 3026535"/>
              <a:gd name="connsiteX3" fmla="*/ 7141531 w 7141531"/>
              <a:gd name="connsiteY3" fmla="*/ 3026535 h 302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3026535">
                <a:moveTo>
                  <a:pt x="0" y="3026535"/>
                </a:moveTo>
                <a:lnTo>
                  <a:pt x="0" y="0"/>
                </a:lnTo>
                <a:lnTo>
                  <a:pt x="7141531" y="0"/>
                </a:lnTo>
                <a:lnTo>
                  <a:pt x="7141531" y="3026535"/>
                </a:lnTo>
                <a:close/>
              </a:path>
            </a:pathLst>
          </a:custGeom>
        </p:spPr>
      </p:pic>
      <p:sp>
        <p:nvSpPr>
          <p:cNvPr id="6" name="MH_Others_1"/>
          <p:cNvSpPr txBox="1"/>
          <p:nvPr>
            <p:custDataLst>
              <p:tags r:id="rId1"/>
            </p:custDataLst>
          </p:nvPr>
        </p:nvSpPr>
        <p:spPr>
          <a:xfrm>
            <a:off x="2032047" y="2955025"/>
            <a:ext cx="2083440" cy="5232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dist">
              <a:defRPr/>
            </a:pPr>
            <a:r>
              <a:rPr lang="en-US" altLang="zh-CN" sz="2400" spc="400" dirty="0">
                <a:solidFill>
                  <a:srgbClr val="7BB6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CREATORS</a:t>
            </a:r>
          </a:p>
        </p:txBody>
      </p:sp>
      <p:sp>
        <p:nvSpPr>
          <p:cNvPr id="7" name="MH_Number_1"/>
          <p:cNvSpPr/>
          <p:nvPr>
            <p:custDataLst>
              <p:tags r:id="rId2"/>
            </p:custDataLst>
          </p:nvPr>
        </p:nvSpPr>
        <p:spPr>
          <a:xfrm>
            <a:off x="6188976" y="1931729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01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MH_Entry_1"/>
          <p:cNvSpPr/>
          <p:nvPr>
            <p:custDataLst>
              <p:tags r:id="rId3"/>
            </p:custDataLst>
          </p:nvPr>
        </p:nvSpPr>
        <p:spPr>
          <a:xfrm>
            <a:off x="6859526" y="1931729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ADITYA S. NAIK</a:t>
            </a:r>
          </a:p>
        </p:txBody>
      </p:sp>
      <p:sp>
        <p:nvSpPr>
          <p:cNvPr id="9" name="MH_Entry_2"/>
          <p:cNvSpPr/>
          <p:nvPr>
            <p:custDataLst>
              <p:tags r:id="rId4"/>
            </p:custDataLst>
          </p:nvPr>
        </p:nvSpPr>
        <p:spPr>
          <a:xfrm>
            <a:off x="6859526" y="2761330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JITESH KALEKAR</a:t>
            </a:r>
          </a:p>
        </p:txBody>
      </p:sp>
      <p:sp>
        <p:nvSpPr>
          <p:cNvPr id="10" name="MH_Number_2"/>
          <p:cNvSpPr/>
          <p:nvPr>
            <p:custDataLst>
              <p:tags r:id="rId5"/>
            </p:custDataLst>
          </p:nvPr>
        </p:nvSpPr>
        <p:spPr>
          <a:xfrm>
            <a:off x="6188976" y="2761330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MH_Number_1"/>
          <p:cNvSpPr/>
          <p:nvPr>
            <p:custDataLst>
              <p:tags r:id="rId6"/>
            </p:custDataLst>
          </p:nvPr>
        </p:nvSpPr>
        <p:spPr>
          <a:xfrm>
            <a:off x="6188976" y="3590931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03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MH_Entry_1"/>
          <p:cNvSpPr/>
          <p:nvPr>
            <p:custDataLst>
              <p:tags r:id="rId7"/>
            </p:custDataLst>
          </p:nvPr>
        </p:nvSpPr>
        <p:spPr>
          <a:xfrm>
            <a:off x="6859526" y="3590931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24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AASHISH NIKAM</a:t>
            </a:r>
          </a:p>
        </p:txBody>
      </p:sp>
      <p:sp>
        <p:nvSpPr>
          <p:cNvPr id="13" name="MH_Entry_2"/>
          <p:cNvSpPr/>
          <p:nvPr>
            <p:custDataLst>
              <p:tags r:id="rId8"/>
            </p:custDataLst>
          </p:nvPr>
        </p:nvSpPr>
        <p:spPr>
          <a:xfrm>
            <a:off x="6859526" y="4420532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0000" lnSpcReduction="10000"/>
          </a:bodyPr>
          <a:lstStyle/>
          <a:p>
            <a:pPr algn="ctr"/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RAMKRISHNA CHOUDHARY</a:t>
            </a:r>
          </a:p>
        </p:txBody>
      </p:sp>
      <p:sp>
        <p:nvSpPr>
          <p:cNvPr id="14" name="MH_Number_2"/>
          <p:cNvSpPr/>
          <p:nvPr>
            <p:custDataLst>
              <p:tags r:id="rId9"/>
            </p:custDataLst>
          </p:nvPr>
        </p:nvSpPr>
        <p:spPr>
          <a:xfrm>
            <a:off x="6188976" y="4420532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04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2171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49450" y="1841500"/>
            <a:ext cx="2284095" cy="2750820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7749540" y="2332990"/>
            <a:ext cx="238760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FRONT-END DEVELOPER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749540" y="3155315"/>
            <a:ext cx="238760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BACK-END DEVELOPER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749540" y="3977640"/>
            <a:ext cx="238760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BACK-END DEVELOPER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815580" y="4802505"/>
            <a:ext cx="22815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/>
              <a:t>BACK-END DEVELOPER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 animBg="1"/>
      <p:bldP spid="8" grpId="1" animBg="1"/>
      <p:bldP spid="9" grpId="0" animBg="1"/>
      <p:bldP spid="9" grpId="1" animBg="1"/>
      <p:bldP spid="12" grpId="0" animBg="1"/>
      <p:bldP spid="12" grpId="1" animBg="1"/>
      <p:bldP spid="13" grpId="0" animBg="1"/>
      <p:bldP spid="13" grpId="1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149"/>
          <p:cNvSpPr/>
          <p:nvPr/>
        </p:nvSpPr>
        <p:spPr>
          <a:xfrm>
            <a:off x="1179830" y="1076960"/>
            <a:ext cx="9429115" cy="5244465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1" name="文本框 35"/>
          <p:cNvSpPr txBox="1">
            <a:spLocks noChangeArrowheads="1"/>
          </p:cNvSpPr>
          <p:nvPr/>
        </p:nvSpPr>
        <p:spPr bwMode="auto">
          <a:xfrm>
            <a:off x="1664335" y="1592580"/>
            <a:ext cx="6610350" cy="4168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0820" algn="l"/>
              </a:tabLst>
            </a:pPr>
            <a:r>
              <a:rPr sz="2000" b="1" spc="-1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Introduction</a:t>
            </a:r>
            <a:r>
              <a:rPr lang="en-US" sz="2000" b="1" spc="-1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&amp; </a:t>
            </a:r>
            <a:r>
              <a:rPr lang="en-IN" sz="2000" b="1" spc="-1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Objectives</a:t>
            </a:r>
            <a:endParaRPr sz="2000" b="1" dirty="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0820" algn="l"/>
              </a:tabLst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Scope </a:t>
            </a:r>
            <a:endParaRPr sz="2000" b="1" dirty="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0820" algn="l"/>
              </a:tabLst>
            </a:pPr>
            <a:r>
              <a:rPr lang="en-US" sz="2000" b="1" spc="-1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Feature &amp; Functionality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0820" algn="l"/>
              </a:tabLst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Problem Identified /Solution Purposed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0820" algn="l"/>
              </a:tabLst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Technology Stack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0820" algn="l"/>
              </a:tabLst>
            </a:pPr>
            <a:r>
              <a:rPr lang="en-IN" altLang="en-US" sz="2000" b="1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Flowchart</a:t>
            </a:r>
            <a:endParaRPr lang="en-US" sz="2000" b="1" dirty="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0820" algn="l"/>
              </a:tabLst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/>
                <a:ea typeface="Microsoft YaHei" panose="020B0503020204020204" pitchFamily="34" charset="-122"/>
                <a:cs typeface="Times New Roman" panose="02020603050405020304"/>
                <a:sym typeface="+mn-ea"/>
              </a:rPr>
              <a:t>Expected Outcome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0820" algn="l"/>
              </a:tabLst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/>
                <a:ea typeface="Microsoft YaHei" panose="020B0503020204020204" pitchFamily="34" charset="-122"/>
                <a:cs typeface="Times New Roman" panose="02020603050405020304"/>
                <a:sym typeface="+mn-ea"/>
              </a:rPr>
              <a:t>Future Scope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0820" algn="l"/>
              </a:tabLst>
            </a:pP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/>
                <a:ea typeface="Microsoft YaHei" panose="020B0503020204020204" pitchFamily="34" charset="-122"/>
                <a:cs typeface="Times New Roman" panose="02020603050405020304"/>
                <a:sym typeface="+mn-ea"/>
              </a:rPr>
              <a:t>Conclusion</a:t>
            </a:r>
          </a:p>
        </p:txBody>
      </p:sp>
      <p:sp>
        <p:nvSpPr>
          <p:cNvPr id="29" name="矩形 28"/>
          <p:cNvSpPr/>
          <p:nvPr/>
        </p:nvSpPr>
        <p:spPr>
          <a:xfrm>
            <a:off x="312592" y="293817"/>
            <a:ext cx="4125720" cy="595108"/>
          </a:xfrm>
          <a:prstGeom prst="rect">
            <a:avLst/>
          </a:prstGeom>
          <a:solidFill>
            <a:schemeClr val="accent1"/>
          </a:solidFill>
          <a:ln w="3175">
            <a:solidFill>
              <a:srgbClr val="7BB6E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333320" y="329761"/>
            <a:ext cx="2091690" cy="52197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</a:p>
        </p:txBody>
      </p:sp>
      <p:sp>
        <p:nvSpPr>
          <p:cNvPr id="31" name="矩形 30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403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15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62032" r="4587" b="4872"/>
          <a:stretch>
            <a:fillRect/>
          </a:stretch>
        </p:blipFill>
        <p:spPr>
          <a:xfrm rot="5400000">
            <a:off x="80357" y="1400722"/>
            <a:ext cx="6857999" cy="4056558"/>
          </a:xfrm>
          <a:custGeom>
            <a:avLst/>
            <a:gdLst>
              <a:gd name="connsiteX0" fmla="*/ 0 w 7141531"/>
              <a:gd name="connsiteY0" fmla="*/ 3168202 h 4224269"/>
              <a:gd name="connsiteX1" fmla="*/ 0 w 7141531"/>
              <a:gd name="connsiteY1" fmla="*/ 0 h 4224269"/>
              <a:gd name="connsiteX2" fmla="*/ 7141531 w 7141531"/>
              <a:gd name="connsiteY2" fmla="*/ 1056066 h 4224269"/>
              <a:gd name="connsiteX3" fmla="*/ 7141531 w 7141531"/>
              <a:gd name="connsiteY3" fmla="*/ 4224269 h 422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4224269">
                <a:moveTo>
                  <a:pt x="0" y="3168202"/>
                </a:moveTo>
                <a:lnTo>
                  <a:pt x="0" y="0"/>
                </a:lnTo>
                <a:lnTo>
                  <a:pt x="7141531" y="1056066"/>
                </a:lnTo>
                <a:lnTo>
                  <a:pt x="7141531" y="4224269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2304625" y="1007538"/>
            <a:ext cx="245451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287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MH_Entry_1"/>
          <p:cNvSpPr/>
          <p:nvPr>
            <p:custDataLst>
              <p:tags r:id="rId1"/>
            </p:custDataLst>
          </p:nvPr>
        </p:nvSpPr>
        <p:spPr>
          <a:xfrm>
            <a:off x="5868725" y="2424775"/>
            <a:ext cx="5086582" cy="691915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36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INTRODUCTION</a:t>
            </a: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601970" y="3148330"/>
            <a:ext cx="5837555" cy="2270760"/>
          </a:xfrm>
          <a:prstGeom prst="rect">
            <a:avLst/>
          </a:prstGeom>
        </p:spPr>
        <p:txBody>
          <a:bodyPr/>
          <a:lstStyle/>
          <a:p>
            <a:pPr marL="285750" indent="-28575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>
                <a:latin typeface="Segoe UI Semibold" panose="020B0702040204020203" charset="0"/>
                <a:ea typeface="SimSun" panose="02010600030101010101" pitchFamily="2" charset="-122"/>
                <a:cs typeface="Segoe UI Semibold" panose="020B0702040204020203" charset="0"/>
              </a:rPr>
              <a:t>An expense tracker project aims to create a system often a software application.</a:t>
            </a:r>
          </a:p>
          <a:p>
            <a:pPr marL="285750" indent="-28575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>
                <a:latin typeface="Segoe UI Semibold" panose="020B0702040204020203" charset="0"/>
                <a:ea typeface="SimSun" panose="02010600030101010101" pitchFamily="2" charset="-122"/>
                <a:cs typeface="Segoe UI Semibold" panose="020B0702040204020203" charset="0"/>
              </a:rPr>
              <a:t> That allows users to easily record, categorize, and analyze their financial transactions, ultimately.</a:t>
            </a:r>
          </a:p>
          <a:p>
            <a:pPr marL="285750" indent="-28575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>
                <a:latin typeface="Segoe UI Semibold" panose="020B0702040204020203" charset="0"/>
                <a:ea typeface="SimSun" panose="02010600030101010101" pitchFamily="2" charset="-122"/>
                <a:cs typeface="Segoe UI Semibold" panose="020B0702040204020203" charset="0"/>
              </a:rPr>
              <a:t> helping them gain insights into their spending habits and make better financial decisions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 124"/>
          <p:cNvSpPr>
            <a:spLocks noChangeArrowheads="1"/>
          </p:cNvSpPr>
          <p:nvPr/>
        </p:nvSpPr>
        <p:spPr bwMode="auto">
          <a:xfrm>
            <a:off x="1371319" y="1510715"/>
            <a:ext cx="8543297" cy="5015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en-US" sz="1600" b="1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The Expense Tracker project has been designed with several </a:t>
            </a:r>
          </a:p>
          <a:p>
            <a:pPr>
              <a:defRPr/>
            </a:pPr>
            <a:r>
              <a:rPr lang="en-US" altLang="en-US" sz="1600" b="1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 objectives in mind:</a:t>
            </a:r>
          </a:p>
          <a:p>
            <a:pPr>
              <a:defRPr/>
            </a:pPr>
            <a:endParaRPr lang="en-US" altLang="en-US" sz="1600" b="1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en-US" sz="1600" b="1" dirty="0">
                <a:solidFill>
                  <a:srgbClr val="263238"/>
                </a:solidFill>
                <a:latin typeface="Lucida Fax" panose="02060602050505020204" charset="0"/>
                <a:ea typeface="Microsoft YaHei" panose="020B0503020204020204" pitchFamily="34" charset="-122"/>
                <a:cs typeface="Lucida Fax" panose="02060602050505020204" charset="0"/>
              </a:rPr>
              <a:t>1.User Interface:</a:t>
            </a: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To develop an intuitive and userfriendly interface that simplifies the process of logging</a:t>
            </a:r>
          </a:p>
          <a:p>
            <a:pPr>
              <a:defRPr/>
            </a:pP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and managing daily expenses.</a:t>
            </a:r>
          </a:p>
          <a:p>
            <a:pPr>
              <a:defRPr/>
            </a:pPr>
            <a:endParaRPr lang="en-US" altLang="en-US" sz="1600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en-US" sz="1600" b="1" dirty="0">
                <a:solidFill>
                  <a:srgbClr val="263238"/>
                </a:solidFill>
                <a:latin typeface="Lucida Fax" panose="02060602050505020204" charset="0"/>
                <a:ea typeface="Microsoft YaHei" panose="020B0503020204020204" pitchFamily="34" charset="-122"/>
                <a:cs typeface="Lucida Fax" panose="02060602050505020204" charset="0"/>
              </a:rPr>
              <a:t>2.Expense Categorization: </a:t>
            </a: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 enable the efficient</a:t>
            </a:r>
          </a:p>
          <a:p>
            <a:pPr>
              <a:defRPr/>
            </a:pP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categorization of expenses, allowing users to analyze</a:t>
            </a:r>
          </a:p>
          <a:p>
            <a:pPr>
              <a:defRPr/>
            </a:pP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their spending patterns and create more effective</a:t>
            </a:r>
          </a:p>
          <a:p>
            <a:pPr>
              <a:defRPr/>
            </a:pP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budgets.</a:t>
            </a:r>
          </a:p>
          <a:p>
            <a:pPr>
              <a:defRPr/>
            </a:pPr>
            <a:endParaRPr lang="en-US" altLang="en-US" sz="1600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en-US" sz="1600" b="1" dirty="0">
                <a:solidFill>
                  <a:srgbClr val="263238"/>
                </a:solidFill>
                <a:latin typeface="Lucida Fax" panose="02060602050505020204" charset="0"/>
                <a:ea typeface="Microsoft YaHei" panose="020B0503020204020204" pitchFamily="34" charset="-122"/>
                <a:cs typeface="Lucida Fax" panose="02060602050505020204" charset="0"/>
              </a:rPr>
              <a:t>3.Data Management:</a:t>
            </a: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To implement SQL-based data </a:t>
            </a:r>
          </a:p>
          <a:p>
            <a:pPr>
              <a:defRPr/>
            </a:pP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storage solutions that ensure secure, structured, and </a:t>
            </a:r>
          </a:p>
          <a:p>
            <a:pPr>
              <a:defRPr/>
            </a:pP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scalable management of financial records.</a:t>
            </a:r>
          </a:p>
          <a:p>
            <a:pPr>
              <a:defRPr/>
            </a:pPr>
            <a:endParaRPr lang="en-US" altLang="en-US" sz="1600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en-US" sz="1600" b="1" dirty="0">
                <a:solidFill>
                  <a:srgbClr val="263238"/>
                </a:solidFill>
                <a:latin typeface="Lucida Fax" panose="02060602050505020204" charset="0"/>
                <a:ea typeface="Microsoft YaHei" panose="020B0503020204020204" pitchFamily="34" charset="-122"/>
                <a:cs typeface="Lucida Fax" panose="02060602050505020204" charset="0"/>
              </a:rPr>
              <a:t>4. Report Generation:</a:t>
            </a: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To provide tools for generating </a:t>
            </a:r>
          </a:p>
          <a:p>
            <a:pPr>
              <a:defRPr/>
            </a:pP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detailed financial reports that offer insights into users'</a:t>
            </a:r>
          </a:p>
          <a:p>
            <a:pPr>
              <a:defRPr/>
            </a:pP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spending habits, helping them to identify areas for</a:t>
            </a:r>
          </a:p>
          <a:p>
            <a:pPr>
              <a:defRPr/>
            </a:pPr>
            <a:r>
              <a:rPr lang="en-US" altLang="en-US" sz="16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financial improvement and make informed decisions</a:t>
            </a:r>
          </a:p>
        </p:txBody>
      </p:sp>
      <p:sp>
        <p:nvSpPr>
          <p:cNvPr id="13" name="矩形 12"/>
          <p:cNvSpPr/>
          <p:nvPr/>
        </p:nvSpPr>
        <p:spPr>
          <a:xfrm>
            <a:off x="312592" y="293817"/>
            <a:ext cx="4125720" cy="595108"/>
          </a:xfrm>
          <a:prstGeom prst="rect">
            <a:avLst/>
          </a:prstGeom>
          <a:solidFill>
            <a:schemeClr val="bg1"/>
          </a:solidFill>
          <a:ln w="3175">
            <a:solidFill>
              <a:srgbClr val="7BB6E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71738" y="329761"/>
            <a:ext cx="2014855" cy="52197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OBJECTIVE</a:t>
            </a:r>
          </a:p>
        </p:txBody>
      </p:sp>
      <p:sp>
        <p:nvSpPr>
          <p:cNvPr id="15" name="矩形 14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403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62032" r="4587" b="4872"/>
          <a:stretch>
            <a:fillRect/>
          </a:stretch>
        </p:blipFill>
        <p:spPr>
          <a:xfrm rot="5400000">
            <a:off x="80357" y="1400722"/>
            <a:ext cx="6857999" cy="4056558"/>
          </a:xfrm>
          <a:custGeom>
            <a:avLst/>
            <a:gdLst>
              <a:gd name="connsiteX0" fmla="*/ 0 w 7141531"/>
              <a:gd name="connsiteY0" fmla="*/ 3168202 h 4224269"/>
              <a:gd name="connsiteX1" fmla="*/ 0 w 7141531"/>
              <a:gd name="connsiteY1" fmla="*/ 0 h 4224269"/>
              <a:gd name="connsiteX2" fmla="*/ 7141531 w 7141531"/>
              <a:gd name="connsiteY2" fmla="*/ 1056066 h 4224269"/>
              <a:gd name="connsiteX3" fmla="*/ 7141531 w 7141531"/>
              <a:gd name="connsiteY3" fmla="*/ 4224269 h 422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4224269">
                <a:moveTo>
                  <a:pt x="0" y="3168202"/>
                </a:moveTo>
                <a:lnTo>
                  <a:pt x="0" y="0"/>
                </a:lnTo>
                <a:lnTo>
                  <a:pt x="7141531" y="1056066"/>
                </a:lnTo>
                <a:lnTo>
                  <a:pt x="7141531" y="4224269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2304625" y="1007538"/>
            <a:ext cx="245451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287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MH_Entry_1"/>
          <p:cNvSpPr/>
          <p:nvPr>
            <p:custDataLst>
              <p:tags r:id="rId1"/>
            </p:custDataLst>
          </p:nvPr>
        </p:nvSpPr>
        <p:spPr>
          <a:xfrm>
            <a:off x="5602025" y="823305"/>
            <a:ext cx="5086582" cy="691915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36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SCOPE OF </a:t>
            </a:r>
            <a:r>
              <a:rPr lang="en-IN" altLang="en-US" sz="36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</a:t>
            </a:r>
            <a:r>
              <a:rPr lang="en-US" altLang="zh-CN" sz="36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601970" y="1697355"/>
            <a:ext cx="5086350" cy="132334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80000"/>
              <a:defRPr/>
            </a:pPr>
            <a:r>
              <a:rPr lang="en-US" altLang="en-US" sz="1600" b="1" dirty="0">
                <a:latin typeface="SimSun" panose="02010600030101010101" pitchFamily="2" charset="-122"/>
                <a:ea typeface="SimSun" panose="02010600030101010101" pitchFamily="2" charset="-122"/>
              </a:rPr>
              <a:t>This project's scope encompasses the development of a desktop-based application utilizing Java for the front end and SQL for data storage. The application will include core features such as: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662295" y="3491865"/>
            <a:ext cx="502539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en-US" b="1"/>
              <a:t>Expense Management:</a:t>
            </a:r>
            <a:r>
              <a:rPr lang="en-US" altLang="en-US"/>
              <a:t> Adding, editing, and deleting expense records</a:t>
            </a:r>
          </a:p>
          <a:p>
            <a:pPr marL="342900" indent="-342900">
              <a:buAutoNum type="arabicPeriod"/>
            </a:pP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 b="1"/>
              <a:t>Categorization: </a:t>
            </a:r>
            <a:r>
              <a:rPr lang="en-US" altLang="en-US"/>
              <a:t>Grouping expenses into categories for easier tracking and analysis.</a:t>
            </a:r>
          </a:p>
          <a:p>
            <a:pPr marL="342900" indent="-342900">
              <a:buAutoNum type="arabicPeriod"/>
            </a:pP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 b="1"/>
              <a:t>Reporting</a:t>
            </a:r>
            <a:r>
              <a:rPr lang="en-US" altLang="en-US"/>
              <a:t>: Generating visual and textual reports to provide insights into spending habits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3"/>
          <p:cNvSpPr txBox="1">
            <a:spLocks noChangeArrowheads="1"/>
          </p:cNvSpPr>
          <p:nvPr/>
        </p:nvSpPr>
        <p:spPr bwMode="auto">
          <a:xfrm>
            <a:off x="3965575" y="2230120"/>
            <a:ext cx="7739380" cy="3294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000" b="1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User-Friendly Interface</a:t>
            </a:r>
            <a:endParaRPr lang="en-US" altLang="en-US" sz="2000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en-US" altLang="en-US" sz="2000" b="1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Simple Navigation:</a:t>
            </a:r>
            <a:r>
              <a:rPr lang="en-US" altLang="en-US" sz="20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The application features an intuitive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interface that allows users to easily navigate through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various sections, such as adding expenses, viewing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reports, and managing categories.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000" b="1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Quick Access: </a:t>
            </a:r>
            <a:r>
              <a:rPr lang="en-US" altLang="en-US" sz="20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Frequently used functions, like adding a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new expense or generating a report, are easily accessible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 the main dashboard.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endParaRPr lang="en-US" altLang="en-US" sz="2000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5653405" y="685800"/>
            <a:ext cx="5162550" cy="501015"/>
          </a:xfrm>
          <a:prstGeom prst="rect">
            <a:avLst/>
          </a:prstGeom>
          <a:solidFill>
            <a:srgbClr val="7BB6E1"/>
          </a:solidFill>
        </p:spPr>
        <p:txBody>
          <a:bodyPr wrap="square">
            <a:no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FEATURE / FUNCTIONALITY</a:t>
            </a:r>
          </a:p>
        </p:txBody>
      </p:sp>
      <p:sp>
        <p:nvSpPr>
          <p:cNvPr id="61" name="矩形 60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7403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7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62032" r="4587" b="4872"/>
          <a:stretch>
            <a:fillRect/>
          </a:stretch>
        </p:blipFill>
        <p:spPr>
          <a:xfrm rot="5400000">
            <a:off x="-1067435" y="1739900"/>
            <a:ext cx="6858000" cy="3378200"/>
          </a:xfrm>
          <a:custGeom>
            <a:avLst/>
            <a:gdLst>
              <a:gd name="connsiteX0" fmla="*/ 0 w 7141531"/>
              <a:gd name="connsiteY0" fmla="*/ 3168202 h 4224269"/>
              <a:gd name="connsiteX1" fmla="*/ 0 w 7141531"/>
              <a:gd name="connsiteY1" fmla="*/ 0 h 4224269"/>
              <a:gd name="connsiteX2" fmla="*/ 7141531 w 7141531"/>
              <a:gd name="connsiteY2" fmla="*/ 1056066 h 4224269"/>
              <a:gd name="connsiteX3" fmla="*/ 7141531 w 7141531"/>
              <a:gd name="connsiteY3" fmla="*/ 4224269 h 422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4224269">
                <a:moveTo>
                  <a:pt x="0" y="3168202"/>
                </a:moveTo>
                <a:lnTo>
                  <a:pt x="0" y="0"/>
                </a:lnTo>
                <a:lnTo>
                  <a:pt x="7141531" y="1056066"/>
                </a:lnTo>
                <a:lnTo>
                  <a:pt x="7141531" y="4224269"/>
                </a:lnTo>
                <a:close/>
              </a:path>
            </a:pathLst>
          </a:custGeom>
        </p:spPr>
      </p:pic>
      <p:sp>
        <p:nvSpPr>
          <p:cNvPr id="56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3" name="文本框 4"/>
          <p:cNvSpPr txBox="1"/>
          <p:nvPr/>
        </p:nvSpPr>
        <p:spPr>
          <a:xfrm>
            <a:off x="1211155" y="1017063"/>
            <a:ext cx="2430780" cy="4507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260"/>
          <p:cNvSpPr txBox="1">
            <a:spLocks noChangeArrowheads="1"/>
          </p:cNvSpPr>
          <p:nvPr/>
        </p:nvSpPr>
        <p:spPr bwMode="auto">
          <a:xfrm>
            <a:off x="2212975" y="4743082"/>
            <a:ext cx="4984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261"/>
          <p:cNvSpPr txBox="1">
            <a:spLocks noChangeArrowheads="1"/>
          </p:cNvSpPr>
          <p:nvPr/>
        </p:nvSpPr>
        <p:spPr bwMode="auto">
          <a:xfrm>
            <a:off x="2878138" y="4743082"/>
            <a:ext cx="4984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262"/>
          <p:cNvSpPr txBox="1">
            <a:spLocks noChangeArrowheads="1"/>
          </p:cNvSpPr>
          <p:nvPr/>
        </p:nvSpPr>
        <p:spPr bwMode="auto">
          <a:xfrm>
            <a:off x="3543300" y="4743082"/>
            <a:ext cx="4984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263"/>
          <p:cNvSpPr txBox="1">
            <a:spLocks noChangeArrowheads="1"/>
          </p:cNvSpPr>
          <p:nvPr/>
        </p:nvSpPr>
        <p:spPr bwMode="auto">
          <a:xfrm>
            <a:off x="4208463" y="4743082"/>
            <a:ext cx="4984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264"/>
          <p:cNvSpPr txBox="1">
            <a:spLocks noChangeArrowheads="1"/>
          </p:cNvSpPr>
          <p:nvPr/>
        </p:nvSpPr>
        <p:spPr bwMode="auto">
          <a:xfrm>
            <a:off x="4873625" y="4743082"/>
            <a:ext cx="500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265"/>
          <p:cNvSpPr txBox="1">
            <a:spLocks noChangeArrowheads="1"/>
          </p:cNvSpPr>
          <p:nvPr/>
        </p:nvSpPr>
        <p:spPr bwMode="auto">
          <a:xfrm>
            <a:off x="5538788" y="4743082"/>
            <a:ext cx="500062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266"/>
          <p:cNvSpPr txBox="1">
            <a:spLocks noChangeArrowheads="1"/>
          </p:cNvSpPr>
          <p:nvPr/>
        </p:nvSpPr>
        <p:spPr bwMode="auto">
          <a:xfrm>
            <a:off x="6203950" y="4743082"/>
            <a:ext cx="500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267"/>
          <p:cNvSpPr txBox="1">
            <a:spLocks noChangeArrowheads="1"/>
          </p:cNvSpPr>
          <p:nvPr/>
        </p:nvSpPr>
        <p:spPr bwMode="auto">
          <a:xfrm>
            <a:off x="6869113" y="4743082"/>
            <a:ext cx="500062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268"/>
          <p:cNvSpPr txBox="1">
            <a:spLocks noChangeArrowheads="1"/>
          </p:cNvSpPr>
          <p:nvPr/>
        </p:nvSpPr>
        <p:spPr bwMode="auto">
          <a:xfrm>
            <a:off x="7534275" y="4743082"/>
            <a:ext cx="500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269"/>
          <p:cNvSpPr txBox="1">
            <a:spLocks noChangeArrowheads="1"/>
          </p:cNvSpPr>
          <p:nvPr/>
        </p:nvSpPr>
        <p:spPr bwMode="auto">
          <a:xfrm>
            <a:off x="8201025" y="4743082"/>
            <a:ext cx="4984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270"/>
          <p:cNvSpPr txBox="1">
            <a:spLocks noChangeArrowheads="1"/>
          </p:cNvSpPr>
          <p:nvPr/>
        </p:nvSpPr>
        <p:spPr bwMode="auto">
          <a:xfrm>
            <a:off x="8866188" y="4743082"/>
            <a:ext cx="4984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71"/>
          <p:cNvSpPr txBox="1">
            <a:spLocks noChangeArrowheads="1"/>
          </p:cNvSpPr>
          <p:nvPr/>
        </p:nvSpPr>
        <p:spPr bwMode="auto">
          <a:xfrm>
            <a:off x="9531350" y="4743082"/>
            <a:ext cx="4984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315"/>
          <p:cNvSpPr txBox="1">
            <a:spLocks noChangeArrowheads="1"/>
          </p:cNvSpPr>
          <p:nvPr/>
        </p:nvSpPr>
        <p:spPr bwMode="auto">
          <a:xfrm>
            <a:off x="1524000" y="5389195"/>
            <a:ext cx="1852613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solidFill>
                  <a:srgbClr val="FFFFFF"/>
                </a:solidFill>
                <a:latin typeface="Impact" panose="020B0806030902050204" pitchFamily="34" charset="0"/>
                <a:ea typeface="黑体" panose="02010609060101010101" pitchFamily="49" charset="-122"/>
              </a:rPr>
              <a:t>TOTAL</a:t>
            </a:r>
            <a:endParaRPr lang="zh-CN" altLang="en-US" sz="3600">
              <a:solidFill>
                <a:srgbClr val="FFFFFF"/>
              </a:solidFill>
              <a:latin typeface="Impact" panose="020B0806030902050204" pitchFamily="34" charset="0"/>
              <a:ea typeface="黑体" panose="02010609060101010101" pitchFamily="49" charset="-122"/>
            </a:endParaRPr>
          </a:p>
        </p:txBody>
      </p:sp>
      <p:sp>
        <p:nvSpPr>
          <p:cNvPr id="24" name="文本框 323"/>
          <p:cNvSpPr txBox="1">
            <a:spLocks noChangeArrowheads="1"/>
          </p:cNvSpPr>
          <p:nvPr/>
        </p:nvSpPr>
        <p:spPr bwMode="auto">
          <a:xfrm>
            <a:off x="5710238" y="5217745"/>
            <a:ext cx="549433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Add your words here,according to your need to draw the text box size.Please read the instructions and more work at the end of the manual template.</a:t>
            </a:r>
          </a:p>
          <a:p>
            <a:pPr>
              <a:buNone/>
              <a:defRPr/>
            </a:pPr>
            <a:r>
              <a:rPr lang="zh-CN" altLang="en-US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Add your words here,according to your need to draw the text box size.Please read the instructions and more work at the end of the manual template.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5505450" y="5454282"/>
            <a:ext cx="0" cy="792163"/>
          </a:xfrm>
          <a:prstGeom prst="line">
            <a:avLst/>
          </a:prstGeom>
          <a:ln w="41275">
            <a:solidFill>
              <a:schemeClr val="bg1">
                <a:alpha val="6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7403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Text Box 52"/>
          <p:cNvSpPr txBox="1"/>
          <p:nvPr/>
        </p:nvSpPr>
        <p:spPr>
          <a:xfrm>
            <a:off x="2133600" y="1597025"/>
            <a:ext cx="8641080" cy="3792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2</a:t>
            </a:r>
            <a:r>
              <a:rPr lang="en-US" altLang="en-US" sz="24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. </a:t>
            </a:r>
            <a:r>
              <a:rPr lang="en-US" altLang="en-US" sz="2400" b="1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Expense Management</a:t>
            </a:r>
            <a:endParaRPr lang="en-US" altLang="en-US" sz="2400" b="1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• Add/Edit/Delete Expenses</a:t>
            </a:r>
            <a:r>
              <a:rPr lang="en-US" altLang="en-US" sz="24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: Users can quickly add new</a:t>
            </a:r>
            <a:endParaRPr lang="en-US" altLang="en-US" sz="2400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expenses by specifying the amount, date, category, and</a:t>
            </a:r>
            <a:endParaRPr lang="en-US" altLang="en-US" sz="2400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description. They can also edit or delete existing</a:t>
            </a:r>
            <a:endParaRPr lang="en-US" altLang="en-US" sz="2400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expenses, allowing for flexibility in managing their</a:t>
            </a:r>
            <a:endParaRPr lang="en-US" altLang="en-US" sz="2400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financial records.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endParaRPr lang="en-US" altLang="en-US" sz="2400" b="1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400" b="1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• Recurring Expenses:</a:t>
            </a:r>
            <a:r>
              <a:rPr lang="en-US" altLang="en-US" sz="24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The system allows users to set up</a:t>
            </a:r>
            <a:endParaRPr lang="en-US" altLang="en-US" sz="2400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recurring expenses (e.g., monthly bills), which are</a:t>
            </a:r>
            <a:endParaRPr lang="en-US" altLang="en-US" sz="2400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automatically added to their expense list on a scheduled</a:t>
            </a:r>
            <a:endParaRPr lang="en-US" altLang="en-US" sz="2400" dirty="0">
              <a:solidFill>
                <a:srgbClr val="2632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srgbClr val="2632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basis.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62032" r="4587" b="4872"/>
          <a:stretch>
            <a:fillRect/>
          </a:stretch>
        </p:blipFill>
        <p:spPr>
          <a:xfrm rot="5400000">
            <a:off x="-417483" y="1400722"/>
            <a:ext cx="6857999" cy="4056558"/>
          </a:xfrm>
          <a:custGeom>
            <a:avLst/>
            <a:gdLst>
              <a:gd name="connsiteX0" fmla="*/ 0 w 7141531"/>
              <a:gd name="connsiteY0" fmla="*/ 3168202 h 4224269"/>
              <a:gd name="connsiteX1" fmla="*/ 0 w 7141531"/>
              <a:gd name="connsiteY1" fmla="*/ 0 h 4224269"/>
              <a:gd name="connsiteX2" fmla="*/ 7141531 w 7141531"/>
              <a:gd name="connsiteY2" fmla="*/ 1056066 h 4224269"/>
              <a:gd name="connsiteX3" fmla="*/ 7141531 w 7141531"/>
              <a:gd name="connsiteY3" fmla="*/ 4224269 h 422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4224269">
                <a:moveTo>
                  <a:pt x="0" y="3168202"/>
                </a:moveTo>
                <a:lnTo>
                  <a:pt x="0" y="0"/>
                </a:lnTo>
                <a:lnTo>
                  <a:pt x="7141531" y="1056066"/>
                </a:lnTo>
                <a:lnTo>
                  <a:pt x="7141531" y="4224269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1796625" y="1007538"/>
            <a:ext cx="2430780" cy="4507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</a:p>
        </p:txBody>
      </p:sp>
      <p:sp>
        <p:nvSpPr>
          <p:cNvPr id="8" name="MH_Entry_1"/>
          <p:cNvSpPr/>
          <p:nvPr>
            <p:custDataLst>
              <p:tags r:id="rId1"/>
            </p:custDataLst>
          </p:nvPr>
        </p:nvSpPr>
        <p:spPr>
          <a:xfrm>
            <a:off x="5537890" y="833465"/>
            <a:ext cx="5086582" cy="691915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/>
            <a:r>
              <a:rPr lang="en-US" altLang="zh-CN" sz="36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PROBLEM IDENTIFIED</a:t>
            </a: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777105" y="2049145"/>
            <a:ext cx="7193280" cy="3466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Arial" panose="020B0604020202020204" pitchFamily="34" charset="0"/>
              </a:rPr>
              <a:t>• In the fast-paced modern world, many individuals find it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Arial" panose="020B0604020202020204" pitchFamily="34" charset="0"/>
              </a:rPr>
              <a:t>challenging to keep an accurate and up-to-date record of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Arial" panose="020B0604020202020204" pitchFamily="34" charset="0"/>
              </a:rPr>
              <a:t>their daily expenses. This often results in poor financial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Arial" panose="020B0604020202020204" pitchFamily="34" charset="0"/>
              </a:rPr>
              <a:t>management, leading to budget overruns and a lack of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Arial" panose="020B0604020202020204" pitchFamily="34" charset="0"/>
              </a:rPr>
              <a:t>financial discipline.</a:t>
            </a:r>
          </a:p>
          <a:p>
            <a:endParaRPr lang="en-US" altLang="en-US" sz="2000" b="1">
              <a:latin typeface="Microsoft YaHei Light" panose="020B0502040204020203" charset="-122"/>
              <a:ea typeface="Microsoft YaHei Light" panose="020B0502040204020203" charset="-122"/>
              <a:cs typeface="Arial" panose="020B0604020202020204" pitchFamily="34" charset="0"/>
            </a:endParaRP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Arial" panose="020B0604020202020204" pitchFamily="34" charset="0"/>
              </a:rPr>
              <a:t>• Consequently, there is a clear need for an expense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Arial" panose="020B0604020202020204" pitchFamily="34" charset="0"/>
              </a:rPr>
              <a:t>tracking tool that is both user-friendly and feature-rich,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Arial" panose="020B0604020202020204" pitchFamily="34" charset="0"/>
              </a:rPr>
              <a:t>capable of providing clear insights into spending habits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Arial" panose="020B0604020202020204" pitchFamily="34" charset="0"/>
              </a:rPr>
              <a:t>without requiring extensive technical expertise from the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Arial" panose="020B0604020202020204" pitchFamily="34" charset="0"/>
              </a:rPr>
              <a:t>user.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312592" y="293817"/>
            <a:ext cx="4125720" cy="595108"/>
          </a:xfrm>
          <a:prstGeom prst="rect">
            <a:avLst/>
          </a:prstGeom>
          <a:solidFill>
            <a:schemeClr val="bg1"/>
          </a:solidFill>
          <a:ln w="3175">
            <a:solidFill>
              <a:srgbClr val="7BB6E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65898" y="329761"/>
            <a:ext cx="4026535" cy="52197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SOLUTION PROPOSED</a:t>
            </a:r>
          </a:p>
        </p:txBody>
      </p:sp>
      <p:sp>
        <p:nvSpPr>
          <p:cNvPr id="16" name="矩形 15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403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1697355" y="2007235"/>
            <a:ext cx="8136255" cy="3561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￭</a:t>
            </a:r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The primary purpose of this project is to develop a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comprehensive Expense Tracker application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designed to assist users in effectively managing and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monitoring their finances.</a:t>
            </a:r>
          </a:p>
          <a:p>
            <a:r>
              <a:rPr lang="zh-CN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￭</a:t>
            </a:r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The goal is to empower users with the tools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necessary to make informed financial decisions,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thus enhancing their budgeting skills and overall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financial well-being.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62032" r="4587" b="4872"/>
          <a:stretch>
            <a:fillRect/>
          </a:stretch>
        </p:blipFill>
        <p:spPr>
          <a:xfrm rot="5400000">
            <a:off x="80357" y="1400722"/>
            <a:ext cx="6857999" cy="4056558"/>
          </a:xfrm>
          <a:custGeom>
            <a:avLst/>
            <a:gdLst>
              <a:gd name="connsiteX0" fmla="*/ 0 w 7141531"/>
              <a:gd name="connsiteY0" fmla="*/ 3168202 h 4224269"/>
              <a:gd name="connsiteX1" fmla="*/ 0 w 7141531"/>
              <a:gd name="connsiteY1" fmla="*/ 0 h 4224269"/>
              <a:gd name="connsiteX2" fmla="*/ 7141531 w 7141531"/>
              <a:gd name="connsiteY2" fmla="*/ 1056066 h 4224269"/>
              <a:gd name="connsiteX3" fmla="*/ 7141531 w 7141531"/>
              <a:gd name="connsiteY3" fmla="*/ 4224269 h 422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4224269">
                <a:moveTo>
                  <a:pt x="0" y="3168202"/>
                </a:moveTo>
                <a:lnTo>
                  <a:pt x="0" y="0"/>
                </a:lnTo>
                <a:lnTo>
                  <a:pt x="7141531" y="1056066"/>
                </a:lnTo>
                <a:lnTo>
                  <a:pt x="7141531" y="4224269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2304625" y="1007538"/>
            <a:ext cx="2430780" cy="4507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</a:p>
        </p:txBody>
      </p:sp>
      <p:sp>
        <p:nvSpPr>
          <p:cNvPr id="8" name="MH_Entry_1"/>
          <p:cNvSpPr/>
          <p:nvPr>
            <p:custDataLst>
              <p:tags r:id="rId1"/>
            </p:custDataLst>
          </p:nvPr>
        </p:nvSpPr>
        <p:spPr>
          <a:xfrm>
            <a:off x="5602025" y="2424775"/>
            <a:ext cx="5086582" cy="691915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/>
          <a:p>
            <a:pPr algn="ctr"/>
            <a:r>
              <a:rPr lang="en-US" altLang="zh-CN" sz="36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TECHNOLOGY STACK</a:t>
            </a: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601970" y="3442970"/>
            <a:ext cx="5086350" cy="140208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80000"/>
              <a:defRPr/>
            </a:pPr>
            <a:r>
              <a:rPr lang="en-US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The Expense Tracker system is designed with a focus on performance, scalability, and security.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312592" y="293817"/>
            <a:ext cx="4125720" cy="595108"/>
          </a:xfrm>
          <a:prstGeom prst="rect">
            <a:avLst/>
          </a:prstGeom>
          <a:solidFill>
            <a:schemeClr val="bg1"/>
          </a:solidFill>
          <a:ln w="3175">
            <a:solidFill>
              <a:srgbClr val="7BB6E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8918" y="340556"/>
            <a:ext cx="4671695" cy="52197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SOFTWARE COMPONENT </a:t>
            </a:r>
          </a:p>
        </p:txBody>
      </p:sp>
      <p:sp>
        <p:nvSpPr>
          <p:cNvPr id="16" name="矩形 15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403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520065" y="1017270"/>
            <a:ext cx="10926445" cy="3815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• </a:t>
            </a:r>
            <a:r>
              <a:rPr lang="en-IN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Firebase</a:t>
            </a:r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 is a </a:t>
            </a:r>
            <a:r>
              <a:rPr lang="en-IN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google technology</a:t>
            </a:r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 for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managing and manipulating relational databases. It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enables efficient querying, dataretrieval and transaction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management, ensuring data integrity and security.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• Java  offers tools to compile, debug, and run Java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applications. It’s optimized for cross-platform desktop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development. Ideal for building robust applications with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modern Java features.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• N</a:t>
            </a:r>
            <a:r>
              <a:rPr lang="en-IN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ote-JS</a:t>
            </a:r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 is an integrated development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environment (IDE) for Java and other programming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languages. It provides tools for coding, debugging,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and deploying applications, featuring a user_x0002_friendly interface and support for various plugins.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• </a:t>
            </a:r>
            <a:r>
              <a:rPr lang="en-IN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Bootstrap</a:t>
            </a:r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, enabling the creation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of rich desktop applications. It offers a set of lightweight,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customizable components like buttons, tables, and text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fields, allowing developers to build interactive user</a:t>
            </a:r>
          </a:p>
          <a:p>
            <a:r>
              <a:rPr lang="en-US" altLang="en-US" sz="2000" b="1">
                <a:latin typeface="Microsoft YaHei Light" panose="020B0502040204020203" charset="-122"/>
                <a:ea typeface="Microsoft YaHei Light" panose="020B0502040204020203" charset="-122"/>
                <a:cs typeface="Microsoft YaHei Light" panose="020B0502040204020203" charset="-122"/>
              </a:rPr>
              <a:t>interfaces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30910" y="1477645"/>
            <a:ext cx="10329545" cy="435165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415290" y="381000"/>
            <a:ext cx="2557780" cy="6572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>
            <a:noAutofit/>
          </a:bodyPr>
          <a:lstStyle/>
          <a:p>
            <a:pPr algn="ctr"/>
            <a:r>
              <a:rPr lang="en-IN" altLang="en-US" sz="2800" b="1">
                <a:solidFill>
                  <a:schemeClr val="tx1"/>
                </a:solidFill>
                <a:latin typeface="Microsoft YaHei Light" panose="020B0502040204020203" charset="-122"/>
                <a:ea typeface="Microsoft YaHei Light" panose="020B0502040204020203" charset="-122"/>
                <a:sym typeface="+mn-ea"/>
              </a:rPr>
              <a:t>FLOWCHART</a:t>
            </a:r>
            <a:endParaRPr lang="en-IN" altLang="en-US" sz="2800" b="1" dirty="0">
              <a:solidFill>
                <a:schemeClr val="tx1"/>
              </a:solidFill>
              <a:latin typeface="Microsoft YaHei Light" panose="020B0502040204020203" charset="-122"/>
              <a:ea typeface="Microsoft YaHei Light" panose="020B0502040204020203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832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3127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12592" y="293817"/>
            <a:ext cx="4125720" cy="595108"/>
          </a:xfrm>
          <a:prstGeom prst="rect">
            <a:avLst/>
          </a:prstGeom>
          <a:solidFill>
            <a:schemeClr val="bg1"/>
          </a:solidFill>
          <a:ln w="3175">
            <a:solidFill>
              <a:srgbClr val="7BB6E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90345" y="338651"/>
            <a:ext cx="2786380" cy="52197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ctr"/>
            <a:r>
              <a:rPr lang="en-I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SIGN-UP PAGE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sp>
        <p:nvSpPr>
          <p:cNvPr id="34" name="矩形 33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7403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1759585" y="4650740"/>
            <a:ext cx="154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Lucida Fax" panose="02060602050505020204" charset="0"/>
                <a:cs typeface="Lucida Fax" panose="02060602050505020204" charset="0"/>
              </a:rPr>
              <a:t>SIGN-UP</a:t>
            </a:r>
          </a:p>
        </p:txBody>
      </p:sp>
      <p:graphicFrame>
        <p:nvGraphicFramePr>
          <p:cNvPr id="8" name="Object 7"/>
          <p:cNvGraphicFramePr/>
          <p:nvPr/>
        </p:nvGraphicFramePr>
        <p:xfrm>
          <a:off x="901700" y="1278255"/>
          <a:ext cx="3258820" cy="2983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732020" imgH="4701540" progId="Paint.Picture">
                  <p:embed/>
                </p:oleObj>
              </mc:Choice>
              <mc:Fallback>
                <p:oleObj r:id="rId3" imgW="4732020" imgH="4701540" progId="Paint.Picture">
                  <p:embed/>
                  <p:pic>
                    <p:nvPicPr>
                      <p:cNvPr id="0" name="Picture 8"/>
                      <p:cNvPicPr/>
                      <p:nvPr/>
                    </p:nvPicPr>
                    <p:blipFill>
                      <a:blip r:embed="rId4"/>
                      <a:srcRect l="5449" r="4305"/>
                      <a:stretch>
                        <a:fillRect/>
                      </a:stretch>
                    </p:blipFill>
                    <p:spPr>
                      <a:xfrm>
                        <a:off x="901700" y="1278255"/>
                        <a:ext cx="3258820" cy="2983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rcRect l="9119" r="4772"/>
          <a:stretch>
            <a:fillRect/>
          </a:stretch>
        </p:blipFill>
        <p:spPr>
          <a:xfrm>
            <a:off x="6696710" y="1278255"/>
            <a:ext cx="3419475" cy="298132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7651115" y="4392930"/>
            <a:ext cx="1511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400" b="1">
                <a:latin typeface="Lucida Fax" panose="02060602050505020204" charset="0"/>
                <a:cs typeface="Lucida Fax" panose="02060602050505020204" charset="0"/>
              </a:rPr>
              <a:t>LOG-IN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12592" y="293817"/>
            <a:ext cx="4125720" cy="595108"/>
          </a:xfrm>
          <a:prstGeom prst="rect">
            <a:avLst/>
          </a:prstGeom>
          <a:solidFill>
            <a:schemeClr val="bg1"/>
          </a:solidFill>
          <a:ln w="3175">
            <a:solidFill>
              <a:srgbClr val="7BB6E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95120" y="329761"/>
            <a:ext cx="3768090" cy="52197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ctr"/>
            <a:r>
              <a:rPr lang="en-I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USER INTERFACE(UI)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sp>
        <p:nvSpPr>
          <p:cNvPr id="34" name="矩形 33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7403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4378" t="4395" r="5124"/>
          <a:stretch>
            <a:fillRect/>
          </a:stretch>
        </p:blipFill>
        <p:spPr>
          <a:xfrm>
            <a:off x="1357630" y="1223645"/>
            <a:ext cx="9399270" cy="371538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917440" y="5273675"/>
            <a:ext cx="2357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400" b="1">
                <a:latin typeface="Lucida Fax" panose="02060602050505020204" charset="0"/>
                <a:cs typeface="Lucida Fax" panose="02060602050505020204" charset="0"/>
              </a:rPr>
              <a:t>DASHBOARD 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62032" r="4587" b="4872"/>
          <a:stretch>
            <a:fillRect/>
          </a:stretch>
        </p:blipFill>
        <p:spPr>
          <a:xfrm rot="5400000">
            <a:off x="-980728" y="1400722"/>
            <a:ext cx="6857999" cy="4056558"/>
          </a:xfrm>
          <a:custGeom>
            <a:avLst/>
            <a:gdLst>
              <a:gd name="connsiteX0" fmla="*/ 0 w 7141531"/>
              <a:gd name="connsiteY0" fmla="*/ 3168202 h 4224269"/>
              <a:gd name="connsiteX1" fmla="*/ 0 w 7141531"/>
              <a:gd name="connsiteY1" fmla="*/ 0 h 4224269"/>
              <a:gd name="connsiteX2" fmla="*/ 7141531 w 7141531"/>
              <a:gd name="connsiteY2" fmla="*/ 1056066 h 4224269"/>
              <a:gd name="connsiteX3" fmla="*/ 7141531 w 7141531"/>
              <a:gd name="connsiteY3" fmla="*/ 4224269 h 422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4224269">
                <a:moveTo>
                  <a:pt x="0" y="3168202"/>
                </a:moveTo>
                <a:lnTo>
                  <a:pt x="0" y="0"/>
                </a:lnTo>
                <a:lnTo>
                  <a:pt x="7141531" y="1056066"/>
                </a:lnTo>
                <a:lnTo>
                  <a:pt x="7141531" y="4224269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1392130" y="1007538"/>
            <a:ext cx="2430780" cy="4507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</a:p>
        </p:txBody>
      </p:sp>
      <p:sp>
        <p:nvSpPr>
          <p:cNvPr id="8" name="MH_Entry_1"/>
          <p:cNvSpPr/>
          <p:nvPr>
            <p:custDataLst>
              <p:tags r:id="rId1"/>
            </p:custDataLst>
          </p:nvPr>
        </p:nvSpPr>
        <p:spPr>
          <a:xfrm>
            <a:off x="5602025" y="695035"/>
            <a:ext cx="5086582" cy="691915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36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FUTURE SCOPE </a:t>
            </a: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329430" y="1538605"/>
            <a:ext cx="6656070" cy="490728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80000"/>
              <a:defRPr/>
            </a:pPr>
            <a:r>
              <a:rPr lang="en-US" altLang="en-US" sz="1600" b="1" dirty="0">
                <a:latin typeface="Microsoft JhengHei Light" panose="020B0304030504040204" charset="-120"/>
                <a:ea typeface="Microsoft JhengHei Light" panose="020B0304030504040204" charset="-120"/>
              </a:rPr>
              <a:t>While the current version of the Personal Expense Trackerprovides valuable features for financial management, there isa wide range of opportunities for future enhancements and growth:</a:t>
            </a:r>
          </a:p>
          <a:p>
            <a:pPr marL="285750" indent="-28575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>
                <a:latin typeface="Microsoft JhengHei Light" panose="020B0304030504040204" charset="-120"/>
                <a:ea typeface="Microsoft JhengHei Light" panose="020B0304030504040204" charset="-120"/>
              </a:rPr>
              <a:t>Multi-Platform Support:</a:t>
            </a:r>
            <a:r>
              <a:rPr lang="en-US" altLang="en-US" sz="1600" dirty="0">
                <a:latin typeface="Microsoft JhengHei Light" panose="020B0304030504040204" charset="-120"/>
                <a:ea typeface="Microsoft JhengHei Light" panose="020B0304030504040204" charset="-120"/>
              </a:rPr>
              <a:t> Consider expanding the app's compatibility to include various platforms such as desktop applications, tablet interfaces, and smartwatch applications to cater to a broader user base.</a:t>
            </a:r>
          </a:p>
          <a:p>
            <a:pPr marL="285750" indent="-28575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>
                <a:latin typeface="Microsoft JhengHei Light" panose="020B0304030504040204" charset="-120"/>
                <a:ea typeface="Microsoft JhengHei Light" panose="020B0304030504040204" charset="-120"/>
              </a:rPr>
              <a:t>Machine Learning and Predictive Analytics:</a:t>
            </a:r>
            <a:r>
              <a:rPr lang="en-US" altLang="en-US" sz="1600" dirty="0">
                <a:latin typeface="Microsoft JhengHei Light" panose="020B0304030504040204" charset="-120"/>
                <a:ea typeface="Microsoft JhengHei Light" panose="020B0304030504040204" charset="-120"/>
              </a:rPr>
              <a:t> Implement machine learning algorithms to provide users with predictive insights, such as forecasting future expenses based on historical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312592" y="293817"/>
            <a:ext cx="4125720" cy="595108"/>
          </a:xfrm>
          <a:prstGeom prst="rect">
            <a:avLst/>
          </a:prstGeom>
          <a:solidFill>
            <a:schemeClr val="bg1"/>
          </a:solidFill>
          <a:ln w="3175">
            <a:solidFill>
              <a:srgbClr val="7BB6E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97735" y="329761"/>
            <a:ext cx="2562860" cy="521970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CONCLUSION</a:t>
            </a:r>
          </a:p>
        </p:txBody>
      </p:sp>
      <p:sp>
        <p:nvSpPr>
          <p:cNvPr id="26" name="矩形 25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4037" y="109581"/>
            <a:ext cx="12041763" cy="6618862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3093085" y="1964055"/>
            <a:ext cx="6706235" cy="2820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Lucida Fax" panose="02060602050505020204" charset="0"/>
                <a:cs typeface="Lucida Fax" panose="02060602050505020204" charset="0"/>
              </a:rPr>
              <a:t>The Expense Tracker project presents a robust and user solution for managing personal finances. Byleveraging Java for application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b="1">
              <a:latin typeface="Lucida Fax" panose="02060602050505020204" charset="0"/>
              <a:cs typeface="Lucida Fax" panose="02060602050505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Lucida Fax" panose="02060602050505020204" charset="0"/>
                <a:cs typeface="Lucida Fax" panose="02060602050505020204" charset="0"/>
              </a:rPr>
              <a:t>SQL for data storage, the system ensures both performance and scalability, offering users a reliable tool to keep track of their expenses.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96598" y="2540920"/>
            <a:ext cx="264287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2A42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Thanks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20732" y="3429000"/>
            <a:ext cx="29946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600" dirty="0">
                <a:solidFill>
                  <a:srgbClr val="7BB6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THANK YOU FOR LISTENING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794559" y="3429000"/>
            <a:ext cx="2646947" cy="0"/>
          </a:xfrm>
          <a:prstGeom prst="line">
            <a:avLst/>
          </a:prstGeom>
          <a:ln>
            <a:solidFill>
              <a:srgbClr val="2A42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546242" y="2459865"/>
            <a:ext cx="3094849" cy="1372084"/>
          </a:xfrm>
          <a:prstGeom prst="rect">
            <a:avLst/>
          </a:prstGeom>
          <a:noFill/>
          <a:ln>
            <a:solidFill>
              <a:srgbClr val="2A42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516230504"/>
  <p:tag name="MH_LIBRARY" val="CONTENTS"/>
  <p:tag name="MH_TYPE" val="OTHERS"/>
  <p:tag name="ID" val="54581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NUMBER"/>
  <p:tag name="ID" val="547142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ENTRY"/>
  <p:tag name="ID" val="547142"/>
  <p:tag name="MH_ORDER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NUMBER"/>
  <p:tag name="ID" val="547142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NUMBER"/>
  <p:tag name="ID" val="547142"/>
  <p:tag name="MH_ORDE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ENTRY"/>
  <p:tag name="ID" val="547142"/>
  <p:tag name="MH_ORDER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NUMBER"/>
  <p:tag name="ID" val="547142"/>
  <p:tag name="MH_ORDER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AUTOCOLOR" val="TRUE"/>
  <p:tag name="MH_TYPE" val="CONTENTS"/>
  <p:tag name="ID" val="5471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AUTOCOLOR" val="TRUE"/>
  <p:tag name="MH_TYPE" val="CONTENTS"/>
  <p:tag name="ID" val="54714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AUTOCOLOR" val="TRUE"/>
  <p:tag name="MH_TYPE" val="CONTENTS"/>
  <p:tag name="ID" val="54714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AUTOCOLOR" val="TRUE"/>
  <p:tag name="MH_TYPE" val="CONTENTS"/>
  <p:tag name="ID" val="54714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</Words>
  <Application>Microsoft Office PowerPoint</Application>
  <PresentationFormat>Widescreen</PresentationFormat>
  <Paragraphs>155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等线</vt:lpstr>
      <vt:lpstr>等线 Light</vt:lpstr>
      <vt:lpstr>Microsoft JhengHei Light</vt:lpstr>
      <vt:lpstr>Microsoft YaHei</vt:lpstr>
      <vt:lpstr>Microsoft YaHei Light</vt:lpstr>
      <vt:lpstr>SimSun</vt:lpstr>
      <vt:lpstr>Arial</vt:lpstr>
      <vt:lpstr>Calibri</vt:lpstr>
      <vt:lpstr>Impact</vt:lpstr>
      <vt:lpstr>Lucida Fax</vt:lpstr>
      <vt:lpstr>Segoe UI Semibold</vt:lpstr>
      <vt:lpstr>Times New Roman</vt:lpstr>
      <vt:lpstr>Office 主题​​</vt:lpstr>
      <vt:lpstr>Paintbrush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xiaofan Zhou</dc:creator>
  <cp:lastModifiedBy>Jitesh kalekar</cp:lastModifiedBy>
  <cp:revision>19</cp:revision>
  <dcterms:created xsi:type="dcterms:W3CDTF">2015-11-15T13:49:00Z</dcterms:created>
  <dcterms:modified xsi:type="dcterms:W3CDTF">2026-09-23T09:33:35Z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1033-12.2.0.20795</vt:lpwstr>
  </property>
  <property fmtid="{D5CDD505-2E9C-101B-9397-08002B2CF9AE}" pid="3" name="ICV">
    <vt:lpwstr>5796DEB518CA445E8816966B83900F6D_13</vt:lpwstr>
  </property>
</Properties>
</file>